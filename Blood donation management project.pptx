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Yeseva One" charset="1" panose="00000500000000000000"/>
      <p:regular r:id="rId10"/>
    </p:embeddedFont>
    <p:embeddedFont>
      <p:font typeface="Libre Baskerville" charset="1" panose="02000000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AD5D1"/>
        </a:solidFill>
      </p:bgPr>
    </p:bg>
    <p:spTree>
      <p:nvGrpSpPr>
        <p:cNvPr id="1" name=""/>
        <p:cNvGrpSpPr/>
        <p:nvPr/>
      </p:nvGrpSpPr>
      <p:grpSpPr>
        <a:xfrm>
          <a:off x="0" y="0"/>
          <a:ext cx="0" cy="0"/>
          <a:chOff x="0" y="0"/>
          <a:chExt cx="0" cy="0"/>
        </a:xfrm>
      </p:grpSpPr>
      <p:sp>
        <p:nvSpPr>
          <p:cNvPr name="TextBox 2" id="2"/>
          <p:cNvSpPr txBox="true"/>
          <p:nvPr/>
        </p:nvSpPr>
        <p:spPr>
          <a:xfrm rot="0">
            <a:off x="4848882" y="2307950"/>
            <a:ext cx="8314407" cy="4546261"/>
          </a:xfrm>
          <a:prstGeom prst="rect">
            <a:avLst/>
          </a:prstGeom>
        </p:spPr>
        <p:txBody>
          <a:bodyPr anchor="t" rtlCol="false" tIns="0" lIns="0" bIns="0" rIns="0">
            <a:spAutoFit/>
          </a:bodyPr>
          <a:lstStyle/>
          <a:p>
            <a:pPr algn="ctr" marL="0" indent="0" lvl="0">
              <a:lnSpc>
                <a:spcPts val="8860"/>
              </a:lnSpc>
            </a:pPr>
            <a:r>
              <a:rPr lang="en-US" sz="8860">
                <a:solidFill>
                  <a:srgbClr val="000000"/>
                </a:solidFill>
                <a:latin typeface="Yeseva One"/>
                <a:ea typeface="Yeseva One"/>
                <a:cs typeface="Yeseva One"/>
                <a:sym typeface="Yeseva One"/>
              </a:rPr>
              <a:t> </a:t>
            </a:r>
            <a:r>
              <a:rPr lang="en-US" sz="8860">
                <a:gradFill>
                  <a:gsLst>
                    <a:gs pos="0">
                      <a:srgbClr val="000000">
                        <a:alpha val="100000"/>
                      </a:srgbClr>
                    </a:gs>
                    <a:gs pos="100000">
                      <a:srgbClr val="3533CD">
                        <a:alpha val="100000"/>
                      </a:srgbClr>
                    </a:gs>
                  </a:gsLst>
                  <a:lin ang="0"/>
                </a:gradFill>
                <a:latin typeface="Yeseva One"/>
                <a:ea typeface="Yeseva One"/>
                <a:cs typeface="Yeseva One"/>
                <a:sym typeface="Yeseva One"/>
              </a:rPr>
              <a:t>Blood</a:t>
            </a:r>
            <a:r>
              <a:rPr lang="en-US" sz="8860">
                <a:solidFill>
                  <a:srgbClr val="000000"/>
                </a:solidFill>
                <a:latin typeface="Yeseva One"/>
                <a:ea typeface="Yeseva One"/>
                <a:cs typeface="Yeseva One"/>
                <a:sym typeface="Yeseva One"/>
              </a:rPr>
              <a:t> </a:t>
            </a:r>
            <a:r>
              <a:rPr lang="en-US" sz="8860">
                <a:gradFill>
                  <a:gsLst>
                    <a:gs pos="0">
                      <a:srgbClr val="000000">
                        <a:alpha val="100000"/>
                      </a:srgbClr>
                    </a:gs>
                    <a:gs pos="100000">
                      <a:srgbClr val="3533CD">
                        <a:alpha val="100000"/>
                      </a:srgbClr>
                    </a:gs>
                  </a:gsLst>
                  <a:lin ang="0"/>
                </a:gradFill>
                <a:latin typeface="Yeseva One"/>
                <a:ea typeface="Yeseva One"/>
                <a:cs typeface="Yeseva One"/>
                <a:sym typeface="Yeseva One"/>
              </a:rPr>
              <a:t>Donation</a:t>
            </a:r>
            <a:r>
              <a:rPr lang="en-US" sz="8860">
                <a:solidFill>
                  <a:srgbClr val="000000"/>
                </a:solidFill>
                <a:latin typeface="Yeseva One"/>
                <a:ea typeface="Yeseva One"/>
                <a:cs typeface="Yeseva One"/>
                <a:sym typeface="Yeseva One"/>
              </a:rPr>
              <a:t> </a:t>
            </a:r>
            <a:r>
              <a:rPr lang="en-US" sz="8860">
                <a:gradFill>
                  <a:gsLst>
                    <a:gs pos="0">
                      <a:srgbClr val="000000">
                        <a:alpha val="100000"/>
                      </a:srgbClr>
                    </a:gs>
                    <a:gs pos="100000">
                      <a:srgbClr val="3533CD">
                        <a:alpha val="100000"/>
                      </a:srgbClr>
                    </a:gs>
                  </a:gsLst>
                  <a:lin ang="0"/>
                </a:gradFill>
                <a:latin typeface="Yeseva One"/>
                <a:ea typeface="Yeseva One"/>
                <a:cs typeface="Yeseva One"/>
                <a:sym typeface="Yeseva One"/>
              </a:rPr>
              <a:t>Management</a:t>
            </a:r>
            <a:r>
              <a:rPr lang="en-US" sz="8860">
                <a:solidFill>
                  <a:srgbClr val="000000"/>
                </a:solidFill>
                <a:latin typeface="Yeseva One"/>
                <a:ea typeface="Yeseva One"/>
                <a:cs typeface="Yeseva One"/>
                <a:sym typeface="Yeseva One"/>
              </a:rPr>
              <a:t> </a:t>
            </a:r>
            <a:r>
              <a:rPr lang="en-US" sz="8860">
                <a:gradFill>
                  <a:gsLst>
                    <a:gs pos="0">
                      <a:srgbClr val="000000">
                        <a:alpha val="100000"/>
                      </a:srgbClr>
                    </a:gs>
                    <a:gs pos="100000">
                      <a:srgbClr val="3533CD">
                        <a:alpha val="100000"/>
                      </a:srgbClr>
                    </a:gs>
                  </a:gsLst>
                  <a:lin ang="0"/>
                </a:gradFill>
                <a:latin typeface="Yeseva One"/>
                <a:ea typeface="Yeseva One"/>
                <a:cs typeface="Yeseva One"/>
                <a:sym typeface="Yeseva One"/>
              </a:rPr>
              <a:t>system</a:t>
            </a:r>
          </a:p>
        </p:txBody>
      </p:sp>
      <p:sp>
        <p:nvSpPr>
          <p:cNvPr name="Freeform 3" id="3"/>
          <p:cNvSpPr/>
          <p:nvPr/>
        </p:nvSpPr>
        <p:spPr>
          <a:xfrm flipH="false" flipV="false" rot="0">
            <a:off x="12610204" y="-571500"/>
            <a:ext cx="6626483" cy="5715000"/>
          </a:xfrm>
          <a:custGeom>
            <a:avLst/>
            <a:gdLst/>
            <a:ahLst/>
            <a:cxnLst/>
            <a:rect r="r" b="b" t="t" l="l"/>
            <a:pathLst>
              <a:path h="5715000" w="6626483">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266137">
            <a:off x="-1277219" y="5897732"/>
            <a:ext cx="5210769" cy="6721137"/>
          </a:xfrm>
          <a:custGeom>
            <a:avLst/>
            <a:gdLst/>
            <a:ahLst/>
            <a:cxnLst/>
            <a:rect r="r" b="b" t="t" l="l"/>
            <a:pathLst>
              <a:path h="6721137" w="5210769">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569636">
            <a:off x="779619" y="-2269556"/>
            <a:ext cx="4096053" cy="7060062"/>
          </a:xfrm>
          <a:custGeom>
            <a:avLst/>
            <a:gdLst/>
            <a:ahLst/>
            <a:cxnLst/>
            <a:rect r="r" b="b" t="t" l="l"/>
            <a:pathLst>
              <a:path h="7060062" w="4096053">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283182" y="1050925"/>
            <a:ext cx="11721636" cy="163830"/>
          </a:xfrm>
          <a:prstGeom prst="rect">
            <a:avLst/>
          </a:prstGeom>
        </p:spPr>
        <p:txBody>
          <a:bodyPr anchor="t" rtlCol="false" tIns="0" lIns="0" bIns="0" rIns="0">
            <a:spAutoFit/>
          </a:bodyPr>
          <a:lstStyle/>
          <a:p>
            <a:pPr algn="ctr" marL="0" indent="0" lvl="0">
              <a:lnSpc>
                <a:spcPts val="1200"/>
              </a:lnSpc>
            </a:pPr>
            <a:r>
              <a:rPr lang="en-US" sz="1200">
                <a:solidFill>
                  <a:srgbClr val="000000"/>
                </a:solidFill>
                <a:latin typeface="Libre Baskerville"/>
                <a:ea typeface="Libre Baskerville"/>
                <a:cs typeface="Libre Baskerville"/>
                <a:sym typeface="Libre Baskerville"/>
              </a:rPr>
              <a:t>PEC (A), Surampalem</a:t>
            </a:r>
          </a:p>
        </p:txBody>
      </p:sp>
      <p:sp>
        <p:nvSpPr>
          <p:cNvPr name="TextBox 7" id="7"/>
          <p:cNvSpPr txBox="true"/>
          <p:nvPr/>
        </p:nvSpPr>
        <p:spPr>
          <a:xfrm rot="0">
            <a:off x="971164" y="8095735"/>
            <a:ext cx="27540528" cy="1814344"/>
          </a:xfrm>
          <a:prstGeom prst="rect">
            <a:avLst/>
          </a:prstGeom>
        </p:spPr>
        <p:txBody>
          <a:bodyPr anchor="t" rtlCol="false" tIns="0" lIns="0" bIns="0" rIns="0">
            <a:spAutoFit/>
          </a:bodyPr>
          <a:lstStyle/>
          <a:p>
            <a:pPr algn="ctr" marL="0" indent="0" lvl="0">
              <a:lnSpc>
                <a:spcPts val="2819"/>
              </a:lnSpc>
            </a:pPr>
            <a:r>
              <a:rPr lang="en-US" sz="2819">
                <a:solidFill>
                  <a:srgbClr val="000000"/>
                </a:solidFill>
                <a:latin typeface="Libre Baskerville"/>
                <a:ea typeface="Libre Baskerville"/>
                <a:cs typeface="Libre Baskerville"/>
                <a:sym typeface="Libre Baskerville"/>
              </a:rPr>
              <a:t>Branch &amp; Year: I CSE-C</a:t>
            </a:r>
          </a:p>
          <a:p>
            <a:pPr algn="ctr" marL="0" indent="0" lvl="0">
              <a:lnSpc>
                <a:spcPts val="2819"/>
              </a:lnSpc>
            </a:pPr>
            <a:r>
              <a:rPr lang="en-US" sz="2819">
                <a:solidFill>
                  <a:srgbClr val="000000"/>
                </a:solidFill>
                <a:latin typeface="Libre Baskerville"/>
                <a:ea typeface="Libre Baskerville"/>
                <a:cs typeface="Libre Baskerville"/>
                <a:sym typeface="Libre Baskerville"/>
              </a:rPr>
              <a:t>Mahalakshmi Jayasri -25A31A05CE</a:t>
            </a:r>
          </a:p>
          <a:p>
            <a:pPr algn="ctr" marL="0" indent="0" lvl="0">
              <a:lnSpc>
                <a:spcPts val="2819"/>
              </a:lnSpc>
            </a:pPr>
            <a:r>
              <a:rPr lang="en-US" sz="2819">
                <a:solidFill>
                  <a:srgbClr val="000000"/>
                </a:solidFill>
                <a:latin typeface="Libre Baskerville"/>
                <a:ea typeface="Libre Baskerville"/>
                <a:cs typeface="Libre Baskerville"/>
                <a:sym typeface="Libre Baskerville"/>
              </a:rPr>
              <a:t>vandana- 25A31A05BN</a:t>
            </a:r>
          </a:p>
          <a:p>
            <a:pPr algn="ctr" marL="0" indent="0" lvl="0">
              <a:lnSpc>
                <a:spcPts val="2819"/>
              </a:lnSpc>
            </a:pPr>
            <a:r>
              <a:rPr lang="en-US" sz="2819">
                <a:solidFill>
                  <a:srgbClr val="000000"/>
                </a:solidFill>
                <a:latin typeface="Libre Baskerville"/>
                <a:ea typeface="Libre Baskerville"/>
                <a:cs typeface="Libre Baskerville"/>
                <a:sym typeface="Libre Baskerville"/>
              </a:rPr>
              <a:t>UdayKiran-25A31A05DK</a:t>
            </a:r>
          </a:p>
          <a:p>
            <a:pPr algn="ctr" marL="0" indent="0" lvl="0">
              <a:lnSpc>
                <a:spcPts val="2819"/>
              </a:lnSpc>
            </a:pPr>
            <a:r>
              <a:rPr lang="en-US" sz="2819">
                <a:solidFill>
                  <a:srgbClr val="000000"/>
                </a:solidFill>
                <a:latin typeface="Libre Baskerville"/>
                <a:ea typeface="Libre Baskerville"/>
                <a:cs typeface="Libre Baskerville"/>
                <a:sym typeface="Libre Baskerville"/>
              </a:rPr>
              <a:t>Rajesh-25A31A05DC</a:t>
            </a:r>
          </a:p>
        </p:txBody>
      </p:sp>
      <p:sp>
        <p:nvSpPr>
          <p:cNvPr name="Freeform 8" id="8"/>
          <p:cNvSpPr/>
          <p:nvPr/>
        </p:nvSpPr>
        <p:spPr>
          <a:xfrm flipH="false" flipV="false" rot="-3755510">
            <a:off x="14637629" y="5499669"/>
            <a:ext cx="4096053" cy="7060062"/>
          </a:xfrm>
          <a:custGeom>
            <a:avLst/>
            <a:gdLst/>
            <a:ahLst/>
            <a:cxnLst/>
            <a:rect r="r" b="b" t="t" l="l"/>
            <a:pathLst>
              <a:path h="7060062" w="4096053">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AD5D1"/>
        </a:solidFill>
      </p:bgPr>
    </p:bg>
    <p:spTree>
      <p:nvGrpSpPr>
        <p:cNvPr id="1" name=""/>
        <p:cNvGrpSpPr/>
        <p:nvPr/>
      </p:nvGrpSpPr>
      <p:grpSpPr>
        <a:xfrm>
          <a:off x="0" y="0"/>
          <a:ext cx="0" cy="0"/>
          <a:chOff x="0" y="0"/>
          <a:chExt cx="0" cy="0"/>
        </a:xfrm>
      </p:grpSpPr>
      <p:sp>
        <p:nvSpPr>
          <p:cNvPr name="Freeform 2" id="2"/>
          <p:cNvSpPr/>
          <p:nvPr/>
        </p:nvSpPr>
        <p:spPr>
          <a:xfrm flipH="false" flipV="false" rot="0">
            <a:off x="12610204" y="-571500"/>
            <a:ext cx="6626483" cy="5715000"/>
          </a:xfrm>
          <a:custGeom>
            <a:avLst/>
            <a:gdLst/>
            <a:ahLst/>
            <a:cxnLst/>
            <a:rect r="r" b="b" t="t" l="l"/>
            <a:pathLst>
              <a:path h="5715000" w="6626483">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266137">
            <a:off x="-1277219" y="5897732"/>
            <a:ext cx="5210769" cy="6721137"/>
          </a:xfrm>
          <a:custGeom>
            <a:avLst/>
            <a:gdLst/>
            <a:ahLst/>
            <a:cxnLst/>
            <a:rect r="r" b="b" t="t" l="l"/>
            <a:pathLst>
              <a:path h="6721137" w="5210769">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569636">
            <a:off x="779619" y="-2269556"/>
            <a:ext cx="4096053" cy="7060062"/>
          </a:xfrm>
          <a:custGeom>
            <a:avLst/>
            <a:gdLst/>
            <a:ahLst/>
            <a:cxnLst/>
            <a:rect r="r" b="b" t="t" l="l"/>
            <a:pathLst>
              <a:path h="7060062" w="4096053">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283182" y="1079500"/>
            <a:ext cx="11721636" cy="353520"/>
          </a:xfrm>
          <a:prstGeom prst="rect">
            <a:avLst/>
          </a:prstGeom>
        </p:spPr>
        <p:txBody>
          <a:bodyPr anchor="t" rtlCol="false" tIns="0" lIns="0" bIns="0" rIns="0">
            <a:spAutoFit/>
          </a:bodyPr>
          <a:lstStyle/>
          <a:p>
            <a:pPr algn="ctr" marL="0" indent="0" lvl="0">
              <a:lnSpc>
                <a:spcPts val="2668"/>
              </a:lnSpc>
            </a:pPr>
            <a:r>
              <a:rPr lang="en-US" sz="2668">
                <a:solidFill>
                  <a:srgbClr val="000000"/>
                </a:solidFill>
                <a:latin typeface="Libre Baskerville"/>
                <a:ea typeface="Libre Baskerville"/>
                <a:cs typeface="Libre Baskerville"/>
                <a:sym typeface="Libre Baskerville"/>
              </a:rPr>
              <a:t>Blood Donation Management system </a:t>
            </a:r>
          </a:p>
        </p:txBody>
      </p:sp>
      <p:sp>
        <p:nvSpPr>
          <p:cNvPr name="Freeform 6" id="6"/>
          <p:cNvSpPr/>
          <p:nvPr/>
        </p:nvSpPr>
        <p:spPr>
          <a:xfrm flipH="false" flipV="false" rot="-3755510">
            <a:off x="14637629" y="5499669"/>
            <a:ext cx="4096053" cy="7060062"/>
          </a:xfrm>
          <a:custGeom>
            <a:avLst/>
            <a:gdLst/>
            <a:ahLst/>
            <a:cxnLst/>
            <a:rect r="r" b="b" t="t" l="l"/>
            <a:pathLst>
              <a:path h="7060062" w="4096053">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908291" y="2703344"/>
            <a:ext cx="8496705" cy="1214195"/>
          </a:xfrm>
          <a:prstGeom prst="rect">
            <a:avLst/>
          </a:prstGeom>
        </p:spPr>
        <p:txBody>
          <a:bodyPr anchor="t" rtlCol="false" tIns="0" lIns="0" bIns="0" rIns="0">
            <a:spAutoFit/>
          </a:bodyPr>
          <a:lstStyle/>
          <a:p>
            <a:pPr algn="ctr" marL="0" indent="0" lvl="0">
              <a:lnSpc>
                <a:spcPts val="9054"/>
              </a:lnSpc>
            </a:pPr>
            <a:r>
              <a:rPr lang="en-US" sz="9054">
                <a:solidFill>
                  <a:srgbClr val="000000"/>
                </a:solidFill>
                <a:latin typeface="Yeseva One"/>
                <a:ea typeface="Yeseva One"/>
                <a:cs typeface="Yeseva One"/>
                <a:sym typeface="Yeseva One"/>
              </a:rPr>
              <a:t>Objective</a:t>
            </a:r>
          </a:p>
        </p:txBody>
      </p:sp>
      <p:sp>
        <p:nvSpPr>
          <p:cNvPr name="TextBox 8" id="8"/>
          <p:cNvSpPr txBox="true"/>
          <p:nvPr/>
        </p:nvSpPr>
        <p:spPr>
          <a:xfrm rot="0">
            <a:off x="1328165" y="4669006"/>
            <a:ext cx="4963220" cy="3020520"/>
          </a:xfrm>
          <a:prstGeom prst="rect">
            <a:avLst/>
          </a:prstGeom>
        </p:spPr>
        <p:txBody>
          <a:bodyPr anchor="t" rtlCol="false" tIns="0" lIns="0" bIns="0" rIns="0">
            <a:spAutoFit/>
          </a:bodyPr>
          <a:lstStyle/>
          <a:p>
            <a:pPr algn="l" marL="0" indent="0" lvl="0">
              <a:lnSpc>
                <a:spcPts val="2668"/>
              </a:lnSpc>
            </a:pPr>
            <a:r>
              <a:rPr lang="en-US" sz="2668">
                <a:solidFill>
                  <a:srgbClr val="000000"/>
                </a:solidFill>
                <a:latin typeface="Libre Baskerville"/>
                <a:ea typeface="Libre Baskerville"/>
                <a:cs typeface="Libre Baskerville"/>
                <a:sym typeface="Libre Baskerville"/>
              </a:rPr>
              <a:t>Increase awareness about the importance of blood donation in communities. Educate people about eligibility criteria and the donation process. Motivate healthy individuals to become regular blood donors.</a:t>
            </a:r>
          </a:p>
        </p:txBody>
      </p:sp>
      <p:sp>
        <p:nvSpPr>
          <p:cNvPr name="TextBox 9" id="9"/>
          <p:cNvSpPr txBox="true"/>
          <p:nvPr/>
        </p:nvSpPr>
        <p:spPr>
          <a:xfrm rot="0">
            <a:off x="6730616" y="4669006"/>
            <a:ext cx="4947821" cy="2687145"/>
          </a:xfrm>
          <a:prstGeom prst="rect">
            <a:avLst/>
          </a:prstGeom>
        </p:spPr>
        <p:txBody>
          <a:bodyPr anchor="t" rtlCol="false" tIns="0" lIns="0" bIns="0" rIns="0">
            <a:spAutoFit/>
          </a:bodyPr>
          <a:lstStyle/>
          <a:p>
            <a:pPr algn="l" marL="0" indent="0" lvl="0">
              <a:lnSpc>
                <a:spcPts val="2668"/>
              </a:lnSpc>
            </a:pPr>
            <a:r>
              <a:rPr lang="en-US" sz="2668">
                <a:solidFill>
                  <a:srgbClr val="000000"/>
                </a:solidFill>
                <a:latin typeface="Libre Baskerville"/>
                <a:ea typeface="Libre Baskerville"/>
                <a:cs typeface="Libre Baskerville"/>
                <a:sym typeface="Libre Baskerville"/>
              </a:rPr>
              <a:t>Create an efficient platform to connect blood donors with recipients in need. Enable quick search and matching based on blood type and location. Reduce the time gap between blood requests and donations.</a:t>
            </a:r>
          </a:p>
        </p:txBody>
      </p:sp>
      <p:sp>
        <p:nvSpPr>
          <p:cNvPr name="TextBox 10" id="10"/>
          <p:cNvSpPr txBox="true"/>
          <p:nvPr/>
        </p:nvSpPr>
        <p:spPr>
          <a:xfrm rot="0">
            <a:off x="12133066" y="4669006"/>
            <a:ext cx="4852055" cy="3020520"/>
          </a:xfrm>
          <a:prstGeom prst="rect">
            <a:avLst/>
          </a:prstGeom>
        </p:spPr>
        <p:txBody>
          <a:bodyPr anchor="t" rtlCol="false" tIns="0" lIns="0" bIns="0" rIns="0">
            <a:spAutoFit/>
          </a:bodyPr>
          <a:lstStyle/>
          <a:p>
            <a:pPr algn="l" marL="0" indent="0" lvl="0">
              <a:lnSpc>
                <a:spcPts val="2668"/>
              </a:lnSpc>
            </a:pPr>
            <a:r>
              <a:rPr lang="en-US" sz="2668">
                <a:solidFill>
                  <a:srgbClr val="000000"/>
                </a:solidFill>
                <a:latin typeface="Libre Baskerville"/>
                <a:ea typeface="Libre Baskerville"/>
                <a:cs typeface="Libre Baskerville"/>
                <a:sym typeface="Libre Baskerville"/>
              </a:rPr>
              <a:t>Build and maintain a comprehensive database of verified blood donors. Track donor history and availability for future donations. Ensure reliable access to donors during emergencies and critical situations.</a:t>
            </a:r>
          </a:p>
        </p:txBody>
      </p:sp>
      <p:sp>
        <p:nvSpPr>
          <p:cNvPr name="TextBox 11" id="11"/>
          <p:cNvSpPr txBox="true"/>
          <p:nvPr/>
        </p:nvSpPr>
        <p:spPr>
          <a:xfrm rot="0">
            <a:off x="1340808" y="4151481"/>
            <a:ext cx="848458" cy="469838"/>
          </a:xfrm>
          <a:prstGeom prst="rect">
            <a:avLst/>
          </a:prstGeom>
        </p:spPr>
        <p:txBody>
          <a:bodyPr anchor="t" rtlCol="false" tIns="0" lIns="0" bIns="0" rIns="0">
            <a:spAutoFit/>
          </a:bodyPr>
          <a:lstStyle/>
          <a:p>
            <a:pPr algn="l" marL="0" indent="0" lvl="0">
              <a:lnSpc>
                <a:spcPts val="3497"/>
              </a:lnSpc>
            </a:pPr>
            <a:r>
              <a:rPr lang="en-US" sz="3497">
                <a:solidFill>
                  <a:srgbClr val="000000"/>
                </a:solidFill>
                <a:latin typeface="Yeseva One"/>
                <a:ea typeface="Yeseva One"/>
                <a:cs typeface="Yeseva One"/>
                <a:sym typeface="Yeseva One"/>
              </a:rPr>
              <a:t>01</a:t>
            </a:r>
          </a:p>
        </p:txBody>
      </p:sp>
      <p:sp>
        <p:nvSpPr>
          <p:cNvPr name="TextBox 12" id="12"/>
          <p:cNvSpPr txBox="true"/>
          <p:nvPr/>
        </p:nvSpPr>
        <p:spPr>
          <a:xfrm rot="0">
            <a:off x="6730616" y="4151481"/>
            <a:ext cx="848458" cy="469838"/>
          </a:xfrm>
          <a:prstGeom prst="rect">
            <a:avLst/>
          </a:prstGeom>
        </p:spPr>
        <p:txBody>
          <a:bodyPr anchor="t" rtlCol="false" tIns="0" lIns="0" bIns="0" rIns="0">
            <a:spAutoFit/>
          </a:bodyPr>
          <a:lstStyle/>
          <a:p>
            <a:pPr algn="l" marL="0" indent="0" lvl="0">
              <a:lnSpc>
                <a:spcPts val="3497"/>
              </a:lnSpc>
            </a:pPr>
            <a:r>
              <a:rPr lang="en-US" sz="3497">
                <a:solidFill>
                  <a:srgbClr val="000000"/>
                </a:solidFill>
                <a:latin typeface="Yeseva One"/>
                <a:ea typeface="Yeseva One"/>
                <a:cs typeface="Yeseva One"/>
                <a:sym typeface="Yeseva One"/>
              </a:rPr>
              <a:t>02</a:t>
            </a:r>
          </a:p>
        </p:txBody>
      </p:sp>
      <p:sp>
        <p:nvSpPr>
          <p:cNvPr name="TextBox 13" id="13"/>
          <p:cNvSpPr txBox="true"/>
          <p:nvPr/>
        </p:nvSpPr>
        <p:spPr>
          <a:xfrm rot="0">
            <a:off x="12198618" y="4151481"/>
            <a:ext cx="848458" cy="469838"/>
          </a:xfrm>
          <a:prstGeom prst="rect">
            <a:avLst/>
          </a:prstGeom>
        </p:spPr>
        <p:txBody>
          <a:bodyPr anchor="t" rtlCol="false" tIns="0" lIns="0" bIns="0" rIns="0">
            <a:spAutoFit/>
          </a:bodyPr>
          <a:lstStyle/>
          <a:p>
            <a:pPr algn="l" marL="0" indent="0" lvl="0">
              <a:lnSpc>
                <a:spcPts val="3497"/>
              </a:lnSpc>
            </a:pPr>
            <a:r>
              <a:rPr lang="en-US" sz="3497">
                <a:solidFill>
                  <a:srgbClr val="000000"/>
                </a:solidFill>
                <a:latin typeface="Yeseva One"/>
                <a:ea typeface="Yeseva One"/>
                <a:cs typeface="Yeseva One"/>
                <a:sym typeface="Yeseva One"/>
              </a:rPr>
              <a:t>03</a:t>
            </a:r>
          </a:p>
        </p:txBody>
      </p:sp>
    </p:spTree>
  </p:cSld>
  <p:clrMapOvr>
    <a:masterClrMapping/>
  </p:clrMapOvr>
  <p:transition spd="fast">
    <p:circl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AD5D1"/>
        </a:solidFill>
      </p:bgPr>
    </p:bg>
    <p:spTree>
      <p:nvGrpSpPr>
        <p:cNvPr id="1" name=""/>
        <p:cNvGrpSpPr/>
        <p:nvPr/>
      </p:nvGrpSpPr>
      <p:grpSpPr>
        <a:xfrm>
          <a:off x="0" y="0"/>
          <a:ext cx="0" cy="0"/>
          <a:chOff x="0" y="0"/>
          <a:chExt cx="0" cy="0"/>
        </a:xfrm>
      </p:grpSpPr>
      <p:sp>
        <p:nvSpPr>
          <p:cNvPr name="Freeform 2" id="2"/>
          <p:cNvSpPr/>
          <p:nvPr/>
        </p:nvSpPr>
        <p:spPr>
          <a:xfrm flipH="false" flipV="false" rot="0">
            <a:off x="12610204" y="-571500"/>
            <a:ext cx="6626483" cy="5715000"/>
          </a:xfrm>
          <a:custGeom>
            <a:avLst/>
            <a:gdLst/>
            <a:ahLst/>
            <a:cxnLst/>
            <a:rect r="r" b="b" t="t" l="l"/>
            <a:pathLst>
              <a:path h="5715000" w="6626483">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266137">
            <a:off x="-1277219" y="5897732"/>
            <a:ext cx="5210769" cy="6721137"/>
          </a:xfrm>
          <a:custGeom>
            <a:avLst/>
            <a:gdLst/>
            <a:ahLst/>
            <a:cxnLst/>
            <a:rect r="r" b="b" t="t" l="l"/>
            <a:pathLst>
              <a:path h="6721137" w="5210769">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569636">
            <a:off x="779619" y="-2269556"/>
            <a:ext cx="4096053" cy="7060062"/>
          </a:xfrm>
          <a:custGeom>
            <a:avLst/>
            <a:gdLst/>
            <a:ahLst/>
            <a:cxnLst/>
            <a:rect r="r" b="b" t="t" l="l"/>
            <a:pathLst>
              <a:path h="7060062" w="4096053">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634047" y="804724"/>
            <a:ext cx="14694298" cy="296406"/>
          </a:xfrm>
          <a:prstGeom prst="rect">
            <a:avLst/>
          </a:prstGeom>
        </p:spPr>
        <p:txBody>
          <a:bodyPr anchor="t" rtlCol="false" tIns="0" lIns="0" bIns="0" rIns="0">
            <a:spAutoFit/>
          </a:bodyPr>
          <a:lstStyle/>
          <a:p>
            <a:pPr algn="ctr" marL="0" indent="0" lvl="0">
              <a:lnSpc>
                <a:spcPts val="2262"/>
              </a:lnSpc>
            </a:pPr>
            <a:r>
              <a:rPr lang="en-US" sz="2262">
                <a:solidFill>
                  <a:srgbClr val="000000"/>
                </a:solidFill>
                <a:latin typeface="Libre Baskerville"/>
                <a:ea typeface="Libre Baskerville"/>
                <a:cs typeface="Libre Baskerville"/>
                <a:sym typeface="Libre Baskerville"/>
              </a:rPr>
              <a:t>Blood Donation Management System</a:t>
            </a:r>
          </a:p>
        </p:txBody>
      </p:sp>
      <p:sp>
        <p:nvSpPr>
          <p:cNvPr name="Freeform 6" id="6"/>
          <p:cNvSpPr/>
          <p:nvPr/>
        </p:nvSpPr>
        <p:spPr>
          <a:xfrm flipH="false" flipV="false" rot="-3755510">
            <a:off x="13073505" y="5298688"/>
            <a:ext cx="4096053" cy="7060062"/>
          </a:xfrm>
          <a:custGeom>
            <a:avLst/>
            <a:gdLst/>
            <a:ahLst/>
            <a:cxnLst/>
            <a:rect r="r" b="b" t="t" l="l"/>
            <a:pathLst>
              <a:path h="7060062" w="4096053">
                <a:moveTo>
                  <a:pt x="0" y="0"/>
                </a:moveTo>
                <a:lnTo>
                  <a:pt x="4096053" y="0"/>
                </a:lnTo>
                <a:lnTo>
                  <a:pt x="4096053" y="7060061"/>
                </a:lnTo>
                <a:lnTo>
                  <a:pt x="0" y="70600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865896" y="2140204"/>
            <a:ext cx="16230600" cy="733623"/>
          </a:xfrm>
          <a:prstGeom prst="rect">
            <a:avLst/>
          </a:prstGeom>
        </p:spPr>
        <p:txBody>
          <a:bodyPr anchor="t" rtlCol="false" tIns="0" lIns="0" bIns="0" rIns="0">
            <a:spAutoFit/>
          </a:bodyPr>
          <a:lstStyle/>
          <a:p>
            <a:pPr algn="ctr" marL="0" indent="0" lvl="0">
              <a:lnSpc>
                <a:spcPts val="5450"/>
              </a:lnSpc>
            </a:pPr>
            <a:r>
              <a:rPr lang="en-US" sz="5450">
                <a:solidFill>
                  <a:srgbClr val="000000"/>
                </a:solidFill>
                <a:latin typeface="Yeseva One"/>
                <a:ea typeface="Yeseva One"/>
                <a:cs typeface="Yeseva One"/>
                <a:sym typeface="Yeseva One"/>
              </a:rPr>
              <a:t>Problem Statement</a:t>
            </a:r>
          </a:p>
        </p:txBody>
      </p:sp>
      <p:sp>
        <p:nvSpPr>
          <p:cNvPr name="TextBox 8" id="8"/>
          <p:cNvSpPr txBox="true"/>
          <p:nvPr/>
        </p:nvSpPr>
        <p:spPr>
          <a:xfrm rot="0">
            <a:off x="1911732" y="4490593"/>
            <a:ext cx="18266509" cy="1847199"/>
          </a:xfrm>
          <a:prstGeom prst="rect">
            <a:avLst/>
          </a:prstGeom>
        </p:spPr>
        <p:txBody>
          <a:bodyPr anchor="t" rtlCol="false" tIns="0" lIns="0" bIns="0" rIns="0">
            <a:spAutoFit/>
          </a:bodyPr>
          <a:lstStyle/>
          <a:p>
            <a:pPr algn="l" marL="0" indent="0" lvl="0">
              <a:lnSpc>
                <a:spcPts val="2890"/>
              </a:lnSpc>
            </a:pPr>
            <a:r>
              <a:rPr lang="en-US" sz="2890">
                <a:solidFill>
                  <a:srgbClr val="000000"/>
                </a:solidFill>
                <a:latin typeface="Libre Baskerville"/>
                <a:ea typeface="Libre Baskerville"/>
                <a:cs typeface="Libre Baskerville"/>
                <a:sym typeface="Libre Baskerville"/>
              </a:rPr>
              <a:t>• Manual record keeping leads to errors and data loss</a:t>
            </a:r>
          </a:p>
          <a:p>
            <a:pPr algn="l" marL="0" indent="0" lvl="0">
              <a:lnSpc>
                <a:spcPts val="2890"/>
              </a:lnSpc>
            </a:pPr>
            <a:r>
              <a:rPr lang="en-US" sz="2890">
                <a:solidFill>
                  <a:srgbClr val="000000"/>
                </a:solidFill>
                <a:latin typeface="Libre Baskerville"/>
                <a:ea typeface="Libre Baskerville"/>
                <a:cs typeface="Libre Baskerville"/>
                <a:sym typeface="Libre Baskerville"/>
              </a:rPr>
              <a:t>• Delayed donor-recipient matching in emergencies</a:t>
            </a:r>
          </a:p>
          <a:p>
            <a:pPr algn="l" marL="0" indent="0" lvl="0">
              <a:lnSpc>
                <a:spcPts val="2890"/>
              </a:lnSpc>
            </a:pPr>
            <a:r>
              <a:rPr lang="en-US" sz="2890">
                <a:solidFill>
                  <a:srgbClr val="000000"/>
                </a:solidFill>
                <a:latin typeface="Libre Baskerville"/>
                <a:ea typeface="Libre Baskerville"/>
                <a:cs typeface="Libre Baskerville"/>
                <a:sym typeface="Libre Baskerville"/>
              </a:rPr>
              <a:t>• Limited geographical reach for finding donors</a:t>
            </a:r>
          </a:p>
          <a:p>
            <a:pPr algn="l" marL="0" indent="0" lvl="0">
              <a:lnSpc>
                <a:spcPts val="2890"/>
              </a:lnSpc>
            </a:pPr>
            <a:r>
              <a:rPr lang="en-US" sz="2890">
                <a:solidFill>
                  <a:srgbClr val="000000"/>
                </a:solidFill>
                <a:latin typeface="Libre Baskerville"/>
                <a:ea typeface="Libre Baskerville"/>
                <a:cs typeface="Libre Baskerville"/>
                <a:sym typeface="Libre Baskerville"/>
              </a:rPr>
              <a:t>• No real-time blood availability tracking</a:t>
            </a:r>
          </a:p>
          <a:p>
            <a:pPr algn="l" marL="0" indent="0" lvl="0">
              <a:lnSpc>
                <a:spcPts val="2890"/>
              </a:lnSpc>
            </a:pPr>
            <a:r>
              <a:rPr lang="en-US" sz="2890">
                <a:solidFill>
                  <a:srgbClr val="000000"/>
                </a:solidFill>
                <a:latin typeface="Libre Baskerville"/>
                <a:ea typeface="Libre Baskerville"/>
                <a:cs typeface="Libre Baskerville"/>
                <a:sym typeface="Libre Baskerville"/>
              </a:rPr>
              <a:t>• Inefficient communication between hospitals and donors</a:t>
            </a:r>
          </a:p>
        </p:txBody>
      </p:sp>
      <p:sp>
        <p:nvSpPr>
          <p:cNvPr name="TextBox 9" id="9"/>
          <p:cNvSpPr txBox="true"/>
          <p:nvPr/>
        </p:nvSpPr>
        <p:spPr>
          <a:xfrm rot="0">
            <a:off x="1782561" y="3854902"/>
            <a:ext cx="6546807" cy="469837"/>
          </a:xfrm>
          <a:prstGeom prst="rect">
            <a:avLst/>
          </a:prstGeom>
        </p:spPr>
        <p:txBody>
          <a:bodyPr anchor="t" rtlCol="false" tIns="0" lIns="0" bIns="0" rIns="0">
            <a:spAutoFit/>
          </a:bodyPr>
          <a:lstStyle/>
          <a:p>
            <a:pPr algn="l" marL="0" indent="0" lvl="0">
              <a:lnSpc>
                <a:spcPts val="3497"/>
              </a:lnSpc>
            </a:pPr>
            <a:r>
              <a:rPr lang="en-US" sz="3497">
                <a:gradFill>
                  <a:gsLst>
                    <a:gs pos="0">
                      <a:srgbClr val="000000">
                        <a:alpha val="100000"/>
                      </a:srgbClr>
                    </a:gs>
                    <a:gs pos="100000">
                      <a:srgbClr val="3533CD">
                        <a:alpha val="100000"/>
                      </a:srgbClr>
                    </a:gs>
                  </a:gsLst>
                  <a:lin ang="0"/>
                </a:gradFill>
                <a:latin typeface="Yeseva One"/>
                <a:ea typeface="Yeseva One"/>
                <a:cs typeface="Yeseva One"/>
                <a:sym typeface="Yeseva One"/>
              </a:rPr>
              <a:t>Existing System Limitations</a:t>
            </a:r>
          </a:p>
        </p:txBody>
      </p:sp>
      <p:sp>
        <p:nvSpPr>
          <p:cNvPr name="TextBox 10" id="10"/>
          <p:cNvSpPr txBox="true"/>
          <p:nvPr/>
        </p:nvSpPr>
        <p:spPr>
          <a:xfrm rot="0">
            <a:off x="1926315" y="7319373"/>
            <a:ext cx="12621215" cy="1847523"/>
          </a:xfrm>
          <a:prstGeom prst="rect">
            <a:avLst/>
          </a:prstGeom>
        </p:spPr>
        <p:txBody>
          <a:bodyPr anchor="t" rtlCol="false" tIns="0" lIns="0" bIns="0" rIns="0">
            <a:spAutoFit/>
          </a:bodyPr>
          <a:lstStyle/>
          <a:p>
            <a:pPr algn="l" marL="0" indent="0" lvl="0">
              <a:lnSpc>
                <a:spcPts val="2890"/>
              </a:lnSpc>
            </a:pPr>
            <a:r>
              <a:rPr lang="en-US" sz="2890">
                <a:solidFill>
                  <a:srgbClr val="000000"/>
                </a:solidFill>
                <a:latin typeface="Libre Baskerville"/>
                <a:ea typeface="Libre Baskerville"/>
                <a:cs typeface="Libre Baskerville"/>
                <a:sym typeface="Libre Baskerville"/>
              </a:rPr>
              <a:t>• Automated centralized database management</a:t>
            </a:r>
          </a:p>
          <a:p>
            <a:pPr algn="l" marL="0" indent="0" lvl="0">
              <a:lnSpc>
                <a:spcPts val="2890"/>
              </a:lnSpc>
            </a:pPr>
            <a:r>
              <a:rPr lang="en-US" sz="2890">
                <a:solidFill>
                  <a:srgbClr val="000000"/>
                </a:solidFill>
                <a:latin typeface="Libre Baskerville"/>
                <a:ea typeface="Libre Baskerville"/>
                <a:cs typeface="Libre Baskerville"/>
                <a:sym typeface="Libre Baskerville"/>
              </a:rPr>
              <a:t>• Quick and accurate donor-recipient matching</a:t>
            </a:r>
          </a:p>
          <a:p>
            <a:pPr algn="l" marL="0" indent="0" lvl="0">
              <a:lnSpc>
                <a:spcPts val="2890"/>
              </a:lnSpc>
            </a:pPr>
            <a:r>
              <a:rPr lang="en-US" sz="2890">
                <a:solidFill>
                  <a:srgbClr val="000000"/>
                </a:solidFill>
                <a:latin typeface="Libre Baskerville"/>
                <a:ea typeface="Libre Baskerville"/>
                <a:cs typeface="Libre Baskerville"/>
                <a:sym typeface="Libre Baskerville"/>
              </a:rPr>
              <a:t>• Wide accessibility through web/mobile platforms</a:t>
            </a:r>
          </a:p>
          <a:p>
            <a:pPr algn="l" marL="0" indent="0" lvl="0">
              <a:lnSpc>
                <a:spcPts val="2890"/>
              </a:lnSpc>
            </a:pPr>
            <a:r>
              <a:rPr lang="en-US" sz="2890">
                <a:solidFill>
                  <a:srgbClr val="000000"/>
                </a:solidFill>
                <a:latin typeface="Libre Baskerville"/>
                <a:ea typeface="Libre Baskerville"/>
                <a:cs typeface="Libre Baskerville"/>
                <a:sym typeface="Libre Baskerville"/>
              </a:rPr>
              <a:t>• Real-time blood inventory monitoring</a:t>
            </a:r>
          </a:p>
          <a:p>
            <a:pPr algn="l" marL="0" indent="0" lvl="0">
              <a:lnSpc>
                <a:spcPts val="2890"/>
              </a:lnSpc>
            </a:pPr>
            <a:r>
              <a:rPr lang="en-US" sz="2890">
                <a:solidFill>
                  <a:srgbClr val="000000"/>
                </a:solidFill>
                <a:latin typeface="Libre Baskerville"/>
                <a:ea typeface="Libre Baskerville"/>
                <a:cs typeface="Libre Baskerville"/>
                <a:sym typeface="Libre Baskerville"/>
              </a:rPr>
              <a:t>• Instant notifications and seamless communication</a:t>
            </a:r>
          </a:p>
        </p:txBody>
      </p:sp>
      <p:sp>
        <p:nvSpPr>
          <p:cNvPr name="TextBox 11" id="11"/>
          <p:cNvSpPr txBox="true"/>
          <p:nvPr/>
        </p:nvSpPr>
        <p:spPr>
          <a:xfrm rot="0">
            <a:off x="1751316" y="6672836"/>
            <a:ext cx="7392684" cy="444515"/>
          </a:xfrm>
          <a:prstGeom prst="rect">
            <a:avLst/>
          </a:prstGeom>
        </p:spPr>
        <p:txBody>
          <a:bodyPr anchor="t" rtlCol="false" tIns="0" lIns="0" bIns="0" rIns="0">
            <a:spAutoFit/>
          </a:bodyPr>
          <a:lstStyle/>
          <a:p>
            <a:pPr algn="l" marL="0" indent="0" lvl="0">
              <a:lnSpc>
                <a:spcPts val="3250"/>
              </a:lnSpc>
            </a:pPr>
            <a:r>
              <a:rPr lang="en-US" sz="3250">
                <a:gradFill>
                  <a:gsLst>
                    <a:gs pos="0">
                      <a:srgbClr val="000000">
                        <a:alpha val="100000"/>
                      </a:srgbClr>
                    </a:gs>
                    <a:gs pos="100000">
                      <a:srgbClr val="3533CD">
                        <a:alpha val="100000"/>
                      </a:srgbClr>
                    </a:gs>
                  </a:gsLst>
                  <a:lin ang="0"/>
                </a:gradFill>
                <a:latin typeface="Yeseva One"/>
                <a:ea typeface="Yeseva One"/>
                <a:cs typeface="Yeseva One"/>
                <a:sym typeface="Yeseva One"/>
              </a:rPr>
              <a:t>Proposed System Advantages</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AD5D1"/>
        </a:solidFill>
      </p:bgPr>
    </p:bg>
    <p:spTree>
      <p:nvGrpSpPr>
        <p:cNvPr id="1" name=""/>
        <p:cNvGrpSpPr/>
        <p:nvPr/>
      </p:nvGrpSpPr>
      <p:grpSpPr>
        <a:xfrm>
          <a:off x="0" y="0"/>
          <a:ext cx="0" cy="0"/>
          <a:chOff x="0" y="0"/>
          <a:chExt cx="0" cy="0"/>
        </a:xfrm>
      </p:grpSpPr>
      <p:sp>
        <p:nvSpPr>
          <p:cNvPr name="TextBox 2" id="2"/>
          <p:cNvSpPr txBox="true"/>
          <p:nvPr/>
        </p:nvSpPr>
        <p:spPr>
          <a:xfrm rot="0">
            <a:off x="3283182" y="3632200"/>
            <a:ext cx="11721636" cy="3250978"/>
          </a:xfrm>
          <a:prstGeom prst="rect">
            <a:avLst/>
          </a:prstGeom>
        </p:spPr>
        <p:txBody>
          <a:bodyPr anchor="t" rtlCol="false" tIns="0" lIns="0" bIns="0" rIns="0">
            <a:spAutoFit/>
          </a:bodyPr>
          <a:lstStyle/>
          <a:p>
            <a:pPr algn="ctr" marL="0" indent="0" lvl="0">
              <a:lnSpc>
                <a:spcPts val="12491"/>
              </a:lnSpc>
            </a:pPr>
            <a:r>
              <a:rPr lang="en-US" sz="12491">
                <a:solidFill>
                  <a:srgbClr val="000000"/>
                </a:solidFill>
                <a:latin typeface="Yeseva One"/>
                <a:ea typeface="Yeseva One"/>
                <a:cs typeface="Yeseva One"/>
                <a:sym typeface="Yeseva One"/>
              </a:rPr>
              <a:t>Thank</a:t>
            </a:r>
          </a:p>
          <a:p>
            <a:pPr algn="ctr" marL="0" indent="0" lvl="0">
              <a:lnSpc>
                <a:spcPts val="12491"/>
              </a:lnSpc>
            </a:pPr>
            <a:r>
              <a:rPr lang="en-US" sz="12491">
                <a:solidFill>
                  <a:srgbClr val="000000"/>
                </a:solidFill>
                <a:latin typeface="Yeseva One"/>
                <a:ea typeface="Yeseva One"/>
                <a:cs typeface="Yeseva One"/>
                <a:sym typeface="Yeseva One"/>
              </a:rPr>
              <a:t>You</a:t>
            </a:r>
          </a:p>
        </p:txBody>
      </p:sp>
      <p:sp>
        <p:nvSpPr>
          <p:cNvPr name="Freeform 3" id="3"/>
          <p:cNvSpPr/>
          <p:nvPr/>
        </p:nvSpPr>
        <p:spPr>
          <a:xfrm flipH="false" flipV="false" rot="0">
            <a:off x="12610204" y="-571500"/>
            <a:ext cx="6626483" cy="5715000"/>
          </a:xfrm>
          <a:custGeom>
            <a:avLst/>
            <a:gdLst/>
            <a:ahLst/>
            <a:cxnLst/>
            <a:rect r="r" b="b" t="t" l="l"/>
            <a:pathLst>
              <a:path h="5715000" w="6626483">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266137">
            <a:off x="-559296" y="5038999"/>
            <a:ext cx="5210769" cy="6721137"/>
          </a:xfrm>
          <a:custGeom>
            <a:avLst/>
            <a:gdLst/>
            <a:ahLst/>
            <a:cxnLst/>
            <a:rect r="r" b="b" t="t" l="l"/>
            <a:pathLst>
              <a:path h="6721137" w="5210769">
                <a:moveTo>
                  <a:pt x="0" y="0"/>
                </a:moveTo>
                <a:lnTo>
                  <a:pt x="5210769" y="0"/>
                </a:lnTo>
                <a:lnTo>
                  <a:pt x="5210769" y="6721137"/>
                </a:lnTo>
                <a:lnTo>
                  <a:pt x="0" y="67211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569636">
            <a:off x="779619" y="-2269556"/>
            <a:ext cx="4096053" cy="7060062"/>
          </a:xfrm>
          <a:custGeom>
            <a:avLst/>
            <a:gdLst/>
            <a:ahLst/>
            <a:cxnLst/>
            <a:rect r="r" b="b" t="t" l="l"/>
            <a:pathLst>
              <a:path h="7060062" w="4096053">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755510">
            <a:off x="14637629" y="5499669"/>
            <a:ext cx="4096053" cy="7060062"/>
          </a:xfrm>
          <a:custGeom>
            <a:avLst/>
            <a:gdLst/>
            <a:ahLst/>
            <a:cxnLst/>
            <a:rect r="r" b="b" t="t" l="l"/>
            <a:pathLst>
              <a:path h="7060062" w="4096053">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5686673" y="884061"/>
            <a:ext cx="6914654" cy="376414"/>
          </a:xfrm>
          <a:prstGeom prst="rect">
            <a:avLst/>
          </a:prstGeom>
        </p:spPr>
        <p:txBody>
          <a:bodyPr anchor="t" rtlCol="false" tIns="0" lIns="0" bIns="0" rIns="0">
            <a:spAutoFit/>
          </a:bodyPr>
          <a:lstStyle/>
          <a:p>
            <a:pPr algn="ctr">
              <a:lnSpc>
                <a:spcPts val="2819"/>
              </a:lnSpc>
              <a:spcBef>
                <a:spcPct val="0"/>
              </a:spcBef>
            </a:pPr>
            <a:r>
              <a:rPr lang="en-US" sz="2819">
                <a:solidFill>
                  <a:srgbClr val="000000"/>
                </a:solidFill>
                <a:latin typeface="Libre Baskerville"/>
                <a:ea typeface="Libre Baskerville"/>
                <a:cs typeface="Libre Baskerville"/>
                <a:sym typeface="Libre Baskerville"/>
              </a:rPr>
              <a:t>Blood Donation Management System</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DAHFhbpwNK8</dc:identifier>
  <dcterms:modified xsi:type="dcterms:W3CDTF">2011-08-01T06:04:30Z</dcterms:modified>
  <cp:revision>1</cp:revision>
  <dc:title>Existing System Limitations</dc:title>
</cp:coreProperties>
</file>